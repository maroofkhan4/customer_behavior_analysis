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rata"/>
      <p:regular r:id="rId17"/>
    </p:embeddedFont>
    <p:embeddedFont>
      <p:font typeface="Prata"/>
      <p:regular r:id="rId18"/>
    </p:embeddedFont>
    <p:embeddedFont>
      <p:font typeface="Manrop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042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Uncovering spending patterns, customer segments, product preferences, and subscription behavior from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3,900 transactional records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502444"/>
            <a:ext cx="33780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at a Glance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01" y="1551905"/>
            <a:ext cx="2655094" cy="265509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62412" y="1262807"/>
            <a:ext cx="1651992" cy="3233365"/>
          </a:xfrm>
          <a:prstGeom prst="roundRect">
            <a:avLst>
              <a:gd name="adj" fmla="val 1227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3597473" y="1397868"/>
            <a:ext cx="138186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3,900 Rows · 18 Columns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597473" y="1948830"/>
            <a:ext cx="1381869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Transactional records across multiple product categories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243140" y="1262807"/>
            <a:ext cx="1651992" cy="3233365"/>
          </a:xfrm>
          <a:prstGeom prst="roundRect">
            <a:avLst>
              <a:gd name="adj" fmla="val 1227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5378202" y="1397868"/>
            <a:ext cx="138186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Feature Groups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78202" y="1948830"/>
            <a:ext cx="1381869" cy="2412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Demographics: Age, Gender, Location, Subscription</a:t>
            </a:r>
            <a:endParaRPr lang="en-US" sz="10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Purchase: Item, Category, Amount, Season, Size</a:t>
            </a:r>
            <a:endParaRPr lang="en-US" sz="10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Behavior: Discounts, Frequency, Ratings, Shipping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023869" y="1262807"/>
            <a:ext cx="1651992" cy="3233365"/>
          </a:xfrm>
          <a:prstGeom prst="roundRect">
            <a:avLst>
              <a:gd name="adj" fmla="val 1227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7158930" y="1397868"/>
            <a:ext cx="138186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Missing Data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58930" y="1737717"/>
            <a:ext cx="1381869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37 null values in the Review Rating column — imputed using category median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2556"/>
            <a:ext cx="3867224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Preparation in Python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980" y="893862"/>
            <a:ext cx="8033891" cy="34644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5555" y="3701299"/>
            <a:ext cx="1822631" cy="22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95555" y="2899341"/>
            <a:ext cx="1822631" cy="22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Handle Missing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5555" y="2105484"/>
            <a:ext cx="1822631" cy="22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Explore 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5555" y="1303527"/>
            <a:ext cx="1822631" cy="22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Load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1643" y="4467597"/>
            <a:ext cx="810064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Columns were standardized to snake_case. Redundant field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highlight>
                  <a:srgbClr val="2E30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was dropped after confirming overlap with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highlight>
                  <a:srgbClr val="2E30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Cleaned data was loaded into PostgreSQL for SQL analysis.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6463"/>
            <a:ext cx="48242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SQL Analysis in PostgreSQL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6296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answered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key business questions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using structured queries — covering revenue, customer segments, product performance, and subscription behavior.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97606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197968"/>
            <a:ext cx="2622724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306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613422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Compared total revenue from male vs. female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0601" y="197606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197968"/>
            <a:ext cx="2622724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0" name="Text 8"/>
          <p:cNvSpPr/>
          <p:nvPr/>
        </p:nvSpPr>
        <p:spPr>
          <a:xfrm>
            <a:off x="3260601" y="2306910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60601" y="283487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Customers using discounts yet spending above average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25083" y="197606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2197968"/>
            <a:ext cx="2622724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083" y="2306910"/>
            <a:ext cx="21266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25083" y="2613422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Highest average review ratings per product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53652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758431"/>
            <a:ext cx="4004965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867373"/>
            <a:ext cx="23223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Shipping Type Comparison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6119" y="417388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spend: Standard vs. Express shipping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2842" y="353652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2842" y="3758431"/>
            <a:ext cx="4004965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2" name="Text 20"/>
          <p:cNvSpPr/>
          <p:nvPr/>
        </p:nvSpPr>
        <p:spPr>
          <a:xfrm>
            <a:off x="4642842" y="3867373"/>
            <a:ext cx="27843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Subscribers vs. Non-Subscribers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42842" y="417388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spend and total revenue by subscription status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5682"/>
            <a:ext cx="29349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More SQL Queries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21643" y="896987"/>
            <a:ext cx="8100640" cy="704404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5930" y="911275"/>
            <a:ext cx="469553" cy="675829"/>
          </a:xfrm>
          <a:prstGeom prst="roundRect">
            <a:avLst>
              <a:gd name="adj" fmla="val 99"/>
            </a:avLst>
          </a:prstGeom>
          <a:solidFill>
            <a:srgbClr val="404245"/>
          </a:solidFill>
          <a:ln/>
        </p:spPr>
      </p:sp>
      <p:sp>
        <p:nvSpPr>
          <p:cNvPr id="5" name="Text 3"/>
          <p:cNvSpPr/>
          <p:nvPr/>
        </p:nvSpPr>
        <p:spPr>
          <a:xfrm>
            <a:off x="682675" y="113913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02668" y="1028626"/>
            <a:ext cx="216403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Discount-Dependent Products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2668" y="1270322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products with the highest % of discounted purchases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643" y="1698575"/>
            <a:ext cx="8100640" cy="704404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5930" y="1712863"/>
            <a:ext cx="469553" cy="675829"/>
          </a:xfrm>
          <a:prstGeom prst="roundRect">
            <a:avLst>
              <a:gd name="adj" fmla="val 99"/>
            </a:avLst>
          </a:prstGeom>
          <a:solidFill>
            <a:srgbClr val="404245"/>
          </a:solidFill>
          <a:ln/>
        </p:spPr>
      </p:sp>
      <p:sp>
        <p:nvSpPr>
          <p:cNvPr id="10" name="Text 8"/>
          <p:cNvSpPr/>
          <p:nvPr/>
        </p:nvSpPr>
        <p:spPr>
          <a:xfrm>
            <a:off x="682675" y="1940719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02668" y="1830214"/>
            <a:ext cx="170653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Segmentation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02668" y="2071911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Classified customers as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Returning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or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Loyal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based on purchase history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643" y="2500164"/>
            <a:ext cx="8100640" cy="704404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5930" y="2514451"/>
            <a:ext cx="469553" cy="675829"/>
          </a:xfrm>
          <a:prstGeom prst="roundRect">
            <a:avLst>
              <a:gd name="adj" fmla="val 99"/>
            </a:avLst>
          </a:prstGeom>
          <a:solidFill>
            <a:srgbClr val="404245"/>
          </a:solidFill>
          <a:ln/>
        </p:spPr>
      </p:sp>
      <p:sp>
        <p:nvSpPr>
          <p:cNvPr id="15" name="Text 13"/>
          <p:cNvSpPr/>
          <p:nvPr/>
        </p:nvSpPr>
        <p:spPr>
          <a:xfrm>
            <a:off x="682675" y="2742307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02668" y="2631802"/>
            <a:ext cx="2010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 3 Products per Category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02668" y="2873499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purchased products within each product category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643" y="3301752"/>
            <a:ext cx="8100640" cy="704404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5930" y="3316039"/>
            <a:ext cx="469553" cy="675829"/>
          </a:xfrm>
          <a:prstGeom prst="roundRect">
            <a:avLst>
              <a:gd name="adj" fmla="val 99"/>
            </a:avLst>
          </a:prstGeom>
          <a:solidFill>
            <a:srgbClr val="404245"/>
          </a:solidFill>
          <a:ln/>
        </p:spPr>
      </p:sp>
      <p:sp>
        <p:nvSpPr>
          <p:cNvPr id="20" name="Text 18"/>
          <p:cNvSpPr/>
          <p:nvPr/>
        </p:nvSpPr>
        <p:spPr>
          <a:xfrm>
            <a:off x="682675" y="3543895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02668" y="3433390"/>
            <a:ext cx="220079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Repeat Buyers &amp; Subscriptions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02668" y="3675087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Whether customers with 5+ purchases are more likely to subscribe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643" y="4103340"/>
            <a:ext cx="8100640" cy="704404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930" y="4117628"/>
            <a:ext cx="469553" cy="675829"/>
          </a:xfrm>
          <a:prstGeom prst="roundRect">
            <a:avLst>
              <a:gd name="adj" fmla="val 99"/>
            </a:avLst>
          </a:prstGeom>
          <a:solidFill>
            <a:srgbClr val="404245"/>
          </a:solidFill>
          <a:ln/>
        </p:spPr>
      </p:sp>
      <p:sp>
        <p:nvSpPr>
          <p:cNvPr id="25" name="Text 23"/>
          <p:cNvSpPr/>
          <p:nvPr/>
        </p:nvSpPr>
        <p:spPr>
          <a:xfrm>
            <a:off x="682675" y="4345484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02668" y="4234979"/>
            <a:ext cx="160726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Revenue by Age Group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02668" y="4476676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revenue contribution broken down by customer age group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8575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Segmentation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858194"/>
            <a:ext cx="195106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Segment Classification Logic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124670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Customers were classified using SQL based on their total number of prior purchases: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714503" y="2530376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</a:t>
            </a:r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First-time or very low purchase count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Returning</a:t>
            </a:r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Moderate history (2–5 purchases)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Loyal</a:t>
            </a:r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6+ purchases, highest spend and engagement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714503" y="3181648"/>
            <a:ext cx="3759622" cy="580355"/>
          </a:xfrm>
          <a:prstGeom prst="roundRect">
            <a:avLst>
              <a:gd name="adj" fmla="val 2920"/>
            </a:avLst>
          </a:prstGeom>
          <a:solidFill>
            <a:srgbClr val="022349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463" y="3347740"/>
            <a:ext cx="141163" cy="1129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81587" y="3299817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 buyers with 5+ purchases showed a notably higher likelihood of subscribing.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49127"/>
            <a:ext cx="56248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Subscription &amp; Discount Insights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75631"/>
            <a:ext cx="2622724" cy="1718742"/>
          </a:xfrm>
          <a:prstGeom prst="roundRect">
            <a:avLst>
              <a:gd name="adj" fmla="val 1237"/>
            </a:avLst>
          </a:prstGeom>
          <a:solidFill>
            <a:srgbClr val="404245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2217390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Subscribers vs. Non-Subscribers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745358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Subscribers generated higher average spend and total revenue — a clear case for growing the subscriber base.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075631"/>
            <a:ext cx="2622724" cy="1718742"/>
          </a:xfrm>
          <a:prstGeom prst="roundRect">
            <a:avLst>
              <a:gd name="adj" fmla="val 1237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2217390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2745358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segment of customers used discounts yet still spent above the average purchase amount — valuable, high-intent buyers.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075631"/>
            <a:ext cx="2622724" cy="1718742"/>
          </a:xfrm>
          <a:prstGeom prst="roundRect">
            <a:avLst>
              <a:gd name="adj" fmla="val 1237"/>
            </a:avLst>
          </a:prstGeom>
          <a:solidFill>
            <a:srgbClr val="404245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2217390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Discount-Dependent Products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2745358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products showed the highest % of discounted purchases, signaling potential margin risk.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35656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874490"/>
            <a:ext cx="2362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Interactive Visual Reporting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237705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interactive Power BI dashboard was built to present all key insights visually — enabling stakeholders to explore revenue trends, segment performance, product rankings, and subscription metrics in one place.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474988" y="3077617"/>
            <a:ext cx="5177582" cy="829196"/>
          </a:xfrm>
          <a:prstGeom prst="roundRect">
            <a:avLst>
              <a:gd name="adj" fmla="val 2565"/>
            </a:avLst>
          </a:prstGeom>
          <a:solidFill>
            <a:srgbClr val="183A1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747" y="3297436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5685" y="3254797"/>
            <a:ext cx="45751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Combines Python cleaning, SQL analysis, and Power BI visualization into a seamless end-to-end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042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3638" y="363959"/>
            <a:ext cx="3311649" cy="44155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0840" y="367010"/>
            <a:ext cx="3995142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Business Recommendations</a:t>
            </a:r>
            <a:endParaRPr lang="en-US" sz="2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840" y="879649"/>
            <a:ext cx="293489" cy="2934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0840" y="129465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Boost Subscriptions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10840" y="1536353"/>
            <a:ext cx="48933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Promote exclusive subscriber benefits to convert high-frequency buyers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840" y="1902470"/>
            <a:ext cx="293489" cy="2934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0840" y="2317477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Loyalty Programs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10840" y="2559174"/>
            <a:ext cx="48933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Reward repeat buyers to move them into the "Loyal" segment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840" y="2925291"/>
            <a:ext cx="293489" cy="2934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0840" y="3340298"/>
            <a:ext cx="16510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Review Discount Policy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10840" y="3581995"/>
            <a:ext cx="48933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Balance sales boosts with margin control on discount-dependent products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0840" y="3948112"/>
            <a:ext cx="293489" cy="2934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10840" y="436312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Targeted Marketing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410840" y="4604817"/>
            <a:ext cx="489332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 on high-revenue age groups and express-shipping users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586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Takeaways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82366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782366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End-to-End Pipeline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24968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(cleaning &amp; engineering) → PostgreSQL (SQL analysis) → Power BI (visualization)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782366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3792" y="1782366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9" name="Text 7"/>
          <p:cNvSpPr/>
          <p:nvPr/>
        </p:nvSpPr>
        <p:spPr>
          <a:xfrm>
            <a:off x="4860801" y="1943174"/>
            <a:ext cx="17909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Actionable Segments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60801" y="2249686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New, Returning, and Loyal customer tiers provide a clear framework for targeted campaigns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005882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069" y="3005882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3" name="Text 11"/>
          <p:cNvSpPr/>
          <p:nvPr/>
        </p:nvSpPr>
        <p:spPr>
          <a:xfrm>
            <a:off x="714077" y="3166690"/>
            <a:ext cx="2200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Subscription Opportunity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4077" y="3473202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Subscribers outspend non-subscribers — growing this base is a high-priority lever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05882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3792" y="3005882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7" name="Text 15"/>
          <p:cNvSpPr/>
          <p:nvPr/>
        </p:nvSpPr>
        <p:spPr>
          <a:xfrm>
            <a:off x="4860801" y="3166690"/>
            <a:ext cx="24405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Product &amp; Discount Strategy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60801" y="3473202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Highlight top-rated products in campaigns; audit discount-heavy SKUs for margin impact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2026-05-06T12:48:41Z</dcterms:created>
  <dcterms:modified xsi:type="dcterms:W3CDTF">2026-05-06T12:48:41Z</dcterms:modified>
</cp:coreProperties>
</file>